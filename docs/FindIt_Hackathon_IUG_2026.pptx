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G/OQIzVVEWUnXpZWpx7bbIbHmG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" name="Google Shape;4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" name="Google Shape;4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9" name="Google Shape;8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7" name="Google Shape;20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8" name="Google Shape;20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2" name="Google Shape;27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3" name="Google Shape;27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22" name="Google Shape;32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3" name="Google Shape;34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44" name="Google Shape;34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4" name="Google Shape;38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5" name="Google Shape;385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697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-1371600" y="-1371600"/>
            <a:ext cx="6400800" cy="6400800"/>
          </a:xfrm>
          <a:prstGeom prst="ellipse">
            <a:avLst/>
          </a:prstGeom>
          <a:solidFill>
            <a:srgbClr val="004D5C"/>
          </a:solidFill>
          <a:ln cap="flat" cmpd="sng" w="12700">
            <a:solidFill>
              <a:srgbClr val="004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5029200" y="1828800"/>
            <a:ext cx="7315200" cy="7315200"/>
          </a:xfrm>
          <a:prstGeom prst="ellipse">
            <a:avLst/>
          </a:prstGeom>
          <a:solidFill>
            <a:srgbClr val="005E73">
              <a:alpha val="60000"/>
            </a:srgbClr>
          </a:solidFill>
          <a:ln cap="flat" cmpd="sng" w="12700">
            <a:solidFill>
              <a:srgbClr val="005E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914400" y="502920"/>
            <a:ext cx="2926080" cy="475488"/>
          </a:xfrm>
          <a:prstGeom prst="roundRect">
            <a:avLst>
              <a:gd fmla="val 13462" name="adj"/>
            </a:avLst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914400" y="502920"/>
            <a:ext cx="2926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A3A42"/>
                </a:solidFill>
                <a:latin typeface="Calibri"/>
                <a:ea typeface="Calibri"/>
                <a:cs typeface="Calibri"/>
                <a:sym typeface="Calibri"/>
              </a:rPr>
              <a:t>IUG 2026 HACKATHON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548640" y="1097280"/>
            <a:ext cx="8046720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0"/>
              <a:buFont typeface="Calibri"/>
              <a:buNone/>
            </a:pPr>
            <a:r>
              <a:rPr b="1" i="0" lang="en-US" sz="9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FindIt</a:t>
            </a:r>
            <a:endParaRPr b="0" i="0" sz="9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48640" y="2651760"/>
            <a:ext cx="64008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2200"/>
              <a:buFont typeface="Calibri"/>
              <a:buNone/>
            </a:pPr>
            <a:r>
              <a:rPr b="0" i="0" lang="en-US" sz="22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Open-Source Shelf Mapping for Library Catalogs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548640" y="338328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map.rhpl.org</a:t>
            </a:r>
            <a:r>
              <a:rPr b="0" i="0" lang="en-US" sz="13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  ·  </a:t>
            </a:r>
            <a:r>
              <a:rPr b="1" i="0" lang="en-US" sz="13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github.com/RHPubLib/FindIt</a:t>
            </a:r>
            <a:r>
              <a:rPr b="0" i="0" lang="en-US" sz="13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  · Open Source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1"/>
          <p:cNvSpPr/>
          <p:nvPr/>
        </p:nvSpPr>
        <p:spPr>
          <a:xfrm>
            <a:off x="548640" y="3886200"/>
            <a:ext cx="1965960" cy="914400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48640" y="3886200"/>
            <a:ext cx="1965960" cy="54864"/>
          </a:xfrm>
          <a:prstGeom prst="rect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48640" y="3941064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500"/>
              <a:buFont typeface="Calibri"/>
              <a:buNone/>
            </a:pPr>
            <a:r>
              <a:rPr b="1" lang="en-US" sz="1500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Train ride to Chicago...</a:t>
            </a:r>
            <a:endParaRPr b="1" sz="1500">
              <a:solidFill>
                <a:srgbClr val="F4C84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"/>
          <p:cNvSpPr/>
          <p:nvPr/>
        </p:nvSpPr>
        <p:spPr>
          <a:xfrm>
            <a:off x="548640" y="4443984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00"/>
              <a:buFont typeface="Calibri"/>
              <a:buNone/>
            </a:pPr>
            <a:r>
              <a:rPr b="1" lang="en-US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plus a couple days ;)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2697480" y="3886200"/>
            <a:ext cx="1965960" cy="914400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2697480" y="3886200"/>
            <a:ext cx="1965960" cy="54864"/>
          </a:xfrm>
          <a:prstGeom prst="rect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2697480" y="3941064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1 person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1"/>
          <p:cNvSpPr/>
          <p:nvPr/>
        </p:nvSpPr>
        <p:spPr>
          <a:xfrm>
            <a:off x="2697480" y="4443984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+ Claude Code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1"/>
          <p:cNvSpPr/>
          <p:nvPr/>
        </p:nvSpPr>
        <p:spPr>
          <a:xfrm>
            <a:off x="4846320" y="3886200"/>
            <a:ext cx="1965960" cy="914400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1"/>
          <p:cNvSpPr/>
          <p:nvPr/>
        </p:nvSpPr>
        <p:spPr>
          <a:xfrm>
            <a:off x="4846320" y="3886200"/>
            <a:ext cx="1965960" cy="54864"/>
          </a:xfrm>
          <a:prstGeom prst="rect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" name="Google Shape;34;p1"/>
          <p:cNvSpPr/>
          <p:nvPr/>
        </p:nvSpPr>
        <p:spPr>
          <a:xfrm>
            <a:off x="4846320" y="3941064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3 apps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"/>
          <p:cNvSpPr/>
          <p:nvPr/>
        </p:nvSpPr>
        <p:spPr>
          <a:xfrm>
            <a:off x="4846320" y="4443984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one JSON config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1"/>
          <p:cNvSpPr/>
          <p:nvPr/>
        </p:nvSpPr>
        <p:spPr>
          <a:xfrm>
            <a:off x="6995160" y="3886200"/>
            <a:ext cx="1965960" cy="914400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30196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"/>
          <p:cNvSpPr/>
          <p:nvPr/>
        </p:nvSpPr>
        <p:spPr>
          <a:xfrm>
            <a:off x="6995160" y="3886200"/>
            <a:ext cx="1965960" cy="54864"/>
          </a:xfrm>
          <a:prstGeom prst="rect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1"/>
          <p:cNvSpPr/>
          <p:nvPr/>
        </p:nvSpPr>
        <p:spPr>
          <a:xfrm>
            <a:off x="6995160" y="3941064"/>
            <a:ext cx="19659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$0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1"/>
          <p:cNvSpPr/>
          <p:nvPr/>
        </p:nvSpPr>
        <p:spPr>
          <a:xfrm>
            <a:off x="6995160" y="4443984"/>
            <a:ext cx="19659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recurring cost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111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45" name="Google Shape;4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82880"/>
            <a:ext cx="6400800" cy="47548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697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7B2D3A"/>
          </a:solidFill>
          <a:ln cap="flat" cmpd="sng" w="12700">
            <a:solidFill>
              <a:srgbClr val="7B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274320" y="0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DEMO FLOW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457200" y="292608"/>
            <a:ext cx="82296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Calibri"/>
              <a:buNone/>
            </a:pPr>
            <a:r>
              <a:rPr b="1" i="0" lang="en-US" sz="3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Search → Find → Go Get It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292608" y="1170432"/>
            <a:ext cx="1938528" cy="3611880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932688" y="1325880"/>
            <a:ext cx="658368" cy="658368"/>
          </a:xfrm>
          <a:prstGeom prst="ellipse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932688" y="132588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4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3A42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896112" y="2084832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🔎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384048" y="2743200"/>
            <a:ext cx="175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Search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3"/>
          <p:cNvSpPr/>
          <p:nvPr/>
        </p:nvSpPr>
        <p:spPr>
          <a:xfrm>
            <a:off x="521208" y="3246120"/>
            <a:ext cx="1481328" cy="27432"/>
          </a:xfrm>
          <a:prstGeom prst="rect">
            <a:avLst/>
          </a:prstGeom>
          <a:solidFill>
            <a:srgbClr val="F4C842">
              <a:alpha val="50196"/>
            </a:srgbClr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384048" y="3337560"/>
            <a:ext cx="1755648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1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Patron types keyword in map app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1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or clicks View Shelf Location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1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 Vega catalog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2249424" y="2514600"/>
            <a:ext cx="1280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3"/>
          <p:cNvSpPr/>
          <p:nvPr/>
        </p:nvSpPr>
        <p:spPr>
          <a:xfrm>
            <a:off x="2359152" y="1170432"/>
            <a:ext cx="1938528" cy="3611880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3"/>
          <p:cNvSpPr/>
          <p:nvPr/>
        </p:nvSpPr>
        <p:spPr>
          <a:xfrm>
            <a:off x="2999232" y="1325880"/>
            <a:ext cx="658368" cy="658368"/>
          </a:xfrm>
          <a:prstGeom prst="ellipse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3"/>
          <p:cNvSpPr/>
          <p:nvPr/>
        </p:nvSpPr>
        <p:spPr>
          <a:xfrm>
            <a:off x="2999232" y="132588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4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3A42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2962656" y="2084832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⚙️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2450592" y="2743200"/>
            <a:ext cx="175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Match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2587752" y="3246120"/>
            <a:ext cx="1481328" cy="27432"/>
          </a:xfrm>
          <a:prstGeom prst="rect">
            <a:avLst/>
          </a:prstGeom>
          <a:solidFill>
            <a:srgbClr val="F4C842">
              <a:alpha val="50196"/>
            </a:srgbClr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3"/>
          <p:cNvSpPr/>
          <p:nvPr/>
        </p:nvSpPr>
        <p:spPr>
          <a:xfrm>
            <a:off x="2450592" y="3337560"/>
            <a:ext cx="1755648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Flask proxies query to Polaris PAPI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Results matched against ranges.json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Sorted: mapped → available → rest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3"/>
          <p:cNvSpPr/>
          <p:nvPr/>
        </p:nvSpPr>
        <p:spPr>
          <a:xfrm>
            <a:off x="4315968" y="2514600"/>
            <a:ext cx="1280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3"/>
          <p:cNvSpPr/>
          <p:nvPr/>
        </p:nvSpPr>
        <p:spPr>
          <a:xfrm>
            <a:off x="4425696" y="1170432"/>
            <a:ext cx="1938528" cy="3611880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5065776" y="1325880"/>
            <a:ext cx="658368" cy="658368"/>
          </a:xfrm>
          <a:prstGeom prst="ellipse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065776" y="132588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4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3A42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029200" y="2084832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📍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517136" y="2743200"/>
            <a:ext cx="175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Highlight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654296" y="3246120"/>
            <a:ext cx="1481328" cy="27432"/>
          </a:xfrm>
          <a:prstGeom prst="rect">
            <a:avLst/>
          </a:prstGeom>
          <a:solidFill>
            <a:srgbClr val="F4C842">
              <a:alpha val="50196"/>
            </a:srgbClr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443975" y="3337550"/>
            <a:ext cx="1920300" cy="132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100"/>
              <a:buFont typeface="Calibri"/>
              <a:buNone/>
            </a:pP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Highlighted rectangle on floor plan - </a:t>
            </a: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Animated SVG book marker · Auto-zoom 1.15× - </a:t>
            </a:r>
            <a:r>
              <a:rPr b="1" i="0" lang="en-US" sz="12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Landmarks always visible</a:t>
            </a:r>
            <a:endParaRPr b="1" i="0" sz="12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6382512" y="2514600"/>
            <a:ext cx="128016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400"/>
              <a:buFont typeface="Calibri"/>
              <a:buNone/>
            </a:pPr>
            <a:r>
              <a:rPr b="0" i="0" lang="en-US" sz="14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6492240" y="1170432"/>
            <a:ext cx="1938528" cy="3611880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7132320" y="1325880"/>
            <a:ext cx="658368" cy="658368"/>
          </a:xfrm>
          <a:prstGeom prst="ellipse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7132320" y="1325880"/>
            <a:ext cx="658368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42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rgbClr val="1A3A42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7095744" y="2084832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🗺️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3"/>
          <p:cNvSpPr/>
          <p:nvPr/>
        </p:nvSpPr>
        <p:spPr>
          <a:xfrm>
            <a:off x="6583680" y="2743200"/>
            <a:ext cx="1755648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700"/>
              <a:buFont typeface="Calibri"/>
              <a:buNone/>
            </a:pPr>
            <a:r>
              <a:rPr b="1" i="0" lang="en-US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Directions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6720840" y="3246120"/>
            <a:ext cx="1481328" cy="27432"/>
          </a:xfrm>
          <a:prstGeom prst="rect">
            <a:avLst/>
          </a:prstGeom>
          <a:solidFill>
            <a:srgbClr val="F4C842">
              <a:alpha val="50196"/>
            </a:srgbClr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6583680" y="3337560"/>
            <a:ext cx="1755648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Staff-written text per shelf zone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100"/>
              <a:buFont typeface="Calibri"/>
              <a:buNone/>
            </a:pPr>
            <a:r>
              <a:rPr b="1" i="0" lang="en-US" sz="13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"Take elevator to 2nd floor, turn left at the reference desk"</a:t>
            </a:r>
            <a:endParaRPr b="1" i="0" sz="13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RHPL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697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4"/>
          <p:cNvSpPr/>
          <p:nvPr/>
        </p:nvSpPr>
        <p:spPr>
          <a:xfrm>
            <a:off x="1828800" y="-1371600"/>
            <a:ext cx="7315200" cy="7315200"/>
          </a:xfrm>
          <a:prstGeom prst="ellipse">
            <a:avLst/>
          </a:prstGeom>
          <a:solidFill>
            <a:srgbClr val="005E73">
              <a:alpha val="40000"/>
            </a:srgbClr>
          </a:solidFill>
          <a:ln cap="flat" cmpd="sng" w="12700">
            <a:solidFill>
              <a:srgbClr val="005E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3200400" y="320040"/>
            <a:ext cx="27432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500"/>
              <a:buFont typeface="Calibri"/>
              <a:buNone/>
            </a:pPr>
            <a:r>
              <a:rPr b="0" i="0" lang="en-US" sz="8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🎬</a:t>
            </a:r>
            <a:endParaRPr b="0" i="0" sz="8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4"/>
          <p:cNvSpPr/>
          <p:nvPr/>
        </p:nvSpPr>
        <p:spPr>
          <a:xfrm>
            <a:off x="457200" y="2148840"/>
            <a:ext cx="822960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6400"/>
              <a:buFont typeface="Calibri"/>
              <a:buNone/>
            </a:pPr>
            <a:r>
              <a:rPr b="1" i="0" lang="en-US" sz="6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LIVE DEMO</a:t>
            </a:r>
            <a:endParaRPr b="0" i="0" sz="6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1005840" y="3337560"/>
            <a:ext cx="2286000" cy="658368"/>
          </a:xfrm>
          <a:prstGeom prst="roundRect">
            <a:avLst>
              <a:gd fmla="val 11111" name="adj"/>
            </a:avLst>
          </a:prstGeom>
          <a:solidFill>
            <a:srgbClr val="005E73"/>
          </a:solidFill>
          <a:ln cap="flat" cmpd="sng" w="1905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1005840" y="333756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🗺️  map.rhpl.org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4"/>
          <p:cNvSpPr/>
          <p:nvPr/>
        </p:nvSpPr>
        <p:spPr>
          <a:xfrm>
            <a:off x="1005840" y="372160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search + kiosk mode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3456432" y="3337560"/>
            <a:ext cx="2286000" cy="658368"/>
          </a:xfrm>
          <a:prstGeom prst="roundRect">
            <a:avLst>
              <a:gd fmla="val 11111" name="adj"/>
            </a:avLst>
          </a:prstGeom>
          <a:solidFill>
            <a:srgbClr val="005E73"/>
          </a:solidFill>
          <a:ln cap="flat" cmpd="sng" w="1905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3456432" y="333756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✏️  editor.rhpl.org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4"/>
          <p:cNvSpPr/>
          <p:nvPr/>
        </p:nvSpPr>
        <p:spPr>
          <a:xfrm>
            <a:off x="3456432" y="372160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draw + publish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907024" y="3337560"/>
            <a:ext cx="2286000" cy="658368"/>
          </a:xfrm>
          <a:prstGeom prst="roundRect">
            <a:avLst>
              <a:gd fmla="val 11111" name="adj"/>
            </a:avLst>
          </a:prstGeom>
          <a:solidFill>
            <a:srgbClr val="005E73"/>
          </a:solidFill>
          <a:ln cap="flat" cmpd="sng" w="1905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907024" y="3337560"/>
            <a:ext cx="22860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📖  iic.rhpl.org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4"/>
          <p:cNvSpPr/>
          <p:nvPr/>
        </p:nvSpPr>
        <p:spPr>
          <a:xfrm>
            <a:off x="5907024" y="3721608"/>
            <a:ext cx="2286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Vega shelf button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9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5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97F"/>
          </a:solidFill>
          <a:ln cap="flat" cmpd="sng" w="12700">
            <a:solidFill>
              <a:srgbClr val="0069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5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697F"/>
          </a:solidFill>
          <a:ln cap="flat" cmpd="sng" w="12700">
            <a:solidFill>
              <a:srgbClr val="0069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5"/>
          <p:cNvSpPr/>
          <p:nvPr/>
        </p:nvSpPr>
        <p:spPr>
          <a:xfrm>
            <a:off x="274320" y="0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EDITOR — EDITOR.RHPL.ORG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384048" y="292608"/>
            <a:ext cx="5029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42"/>
              </a:buClr>
              <a:buSzPts val="3200"/>
              <a:buFont typeface="Calibri"/>
              <a:buNone/>
            </a:pPr>
            <a:r>
              <a:rPr b="1" i="0" lang="en-US" sz="3200" u="none" cap="none" strike="noStrike">
                <a:solidFill>
                  <a:srgbClr val="1A3A42"/>
                </a:solidFill>
                <a:latin typeface="Calibri"/>
                <a:ea typeface="Calibri"/>
                <a:cs typeface="Calibri"/>
                <a:sym typeface="Calibri"/>
              </a:rPr>
              <a:t>Staff Draw the Map.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5"/>
          <p:cNvSpPr/>
          <p:nvPr/>
        </p:nvSpPr>
        <p:spPr>
          <a:xfrm>
            <a:off x="384048" y="841248"/>
            <a:ext cx="50292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7F"/>
              </a:buClr>
              <a:buSzPts val="2600"/>
              <a:buFont typeface="Calibri"/>
              <a:buNone/>
            </a:pPr>
            <a:r>
              <a:rPr b="0" i="0" lang="en-US" sz="2600" u="none" cap="none" strike="noStrike">
                <a:solidFill>
                  <a:srgbClr val="00697F"/>
                </a:solidFill>
                <a:latin typeface="Calibri"/>
                <a:ea typeface="Calibri"/>
                <a:cs typeface="Calibri"/>
                <a:sym typeface="Calibri"/>
              </a:rPr>
              <a:t>FindIt Does the Rest.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/>
          <p:nvPr/>
        </p:nvSpPr>
        <p:spPr>
          <a:xfrm>
            <a:off x="256032" y="1481328"/>
            <a:ext cx="365760" cy="365760"/>
          </a:xfrm>
          <a:prstGeom prst="ellipse">
            <a:avLst/>
          </a:prstGeom>
          <a:solidFill>
            <a:srgbClr val="00697F"/>
          </a:solidFill>
          <a:ln cap="flat" cmpd="sng" w="12700">
            <a:solidFill>
              <a:srgbClr val="0069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256032" y="14813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🖱️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731520" y="144475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7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697F"/>
                </a:solidFill>
                <a:latin typeface="Calibri"/>
                <a:ea typeface="Calibri"/>
                <a:cs typeface="Calibri"/>
                <a:sym typeface="Calibri"/>
              </a:rPr>
              <a:t>HTML5 Canvas drawing engine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5"/>
          <p:cNvSpPr/>
          <p:nvPr/>
        </p:nvSpPr>
        <p:spPr>
          <a:xfrm>
            <a:off x="731520" y="171907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Click &amp; drag rectangles on 3000×1916px floor plan images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256032" y="2167128"/>
            <a:ext cx="365760" cy="365760"/>
          </a:xfrm>
          <a:prstGeom prst="ellipse">
            <a:avLst/>
          </a:prstGeom>
          <a:solidFill>
            <a:srgbClr val="00697F"/>
          </a:solidFill>
          <a:ln cap="flat" cmpd="sng" w="12700">
            <a:solidFill>
              <a:srgbClr val="0069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"/>
          <p:cNvSpPr/>
          <p:nvPr/>
        </p:nvSpPr>
        <p:spPr>
          <a:xfrm>
            <a:off x="256032" y="21671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🔽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731520" y="213055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7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697F"/>
                </a:solidFill>
                <a:latin typeface="Calibri"/>
                <a:ea typeface="Calibri"/>
                <a:cs typeface="Calibri"/>
                <a:sym typeface="Calibri"/>
              </a:rPr>
              <a:t>Polaris-synced dropdowns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5"/>
          <p:cNvSpPr/>
          <p:nvPr/>
        </p:nvSpPr>
        <p:spPr>
          <a:xfrm>
            <a:off x="731520" y="240487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Collections + shelf locations pulled live from PAPI on page load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256032" y="2852928"/>
            <a:ext cx="365760" cy="365760"/>
          </a:xfrm>
          <a:prstGeom prst="ellipse">
            <a:avLst/>
          </a:prstGeom>
          <a:solidFill>
            <a:srgbClr val="00697F"/>
          </a:solidFill>
          <a:ln cap="flat" cmpd="sng" w="12700">
            <a:solidFill>
              <a:srgbClr val="0069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/>
          <p:nvPr/>
        </p:nvSpPr>
        <p:spPr>
          <a:xfrm>
            <a:off x="256032" y="28529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📝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731520" y="281635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7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697F"/>
                </a:solidFill>
                <a:latin typeface="Calibri"/>
                <a:ea typeface="Calibri"/>
                <a:cs typeface="Calibri"/>
                <a:sym typeface="Calibri"/>
              </a:rPr>
              <a:t>Directions field per zone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5"/>
          <p:cNvSpPr/>
          <p:nvPr/>
        </p:nvSpPr>
        <p:spPr>
          <a:xfrm>
            <a:off x="731520" y="309067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Free-text walking instructions stored per rectangle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256032" y="3538728"/>
            <a:ext cx="365760" cy="365760"/>
          </a:xfrm>
          <a:prstGeom prst="ellipse">
            <a:avLst/>
          </a:prstGeom>
          <a:solidFill>
            <a:srgbClr val="00697F"/>
          </a:solidFill>
          <a:ln cap="flat" cmpd="sng" w="12700">
            <a:solidFill>
              <a:srgbClr val="0069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5"/>
          <p:cNvSpPr/>
          <p:nvPr/>
        </p:nvSpPr>
        <p:spPr>
          <a:xfrm>
            <a:off x="256032" y="35387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🚻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731520" y="350215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7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697F"/>
                </a:solidFill>
                <a:latin typeface="Calibri"/>
                <a:ea typeface="Calibri"/>
                <a:cs typeface="Calibri"/>
                <a:sym typeface="Calibri"/>
              </a:rPr>
              <a:t>Landmark drag-and-drop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731520" y="377647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Restrooms · Elevator · Fountain · Info Desk positioned as % coordinates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5"/>
          <p:cNvSpPr/>
          <p:nvPr/>
        </p:nvSpPr>
        <p:spPr>
          <a:xfrm>
            <a:off x="256032" y="4224528"/>
            <a:ext cx="365760" cy="365760"/>
          </a:xfrm>
          <a:prstGeom prst="ellipse">
            <a:avLst/>
          </a:prstGeom>
          <a:solidFill>
            <a:srgbClr val="00697F"/>
          </a:solidFill>
          <a:ln cap="flat" cmpd="sng" w="12700">
            <a:solidFill>
              <a:srgbClr val="0069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256032" y="422452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🚀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5"/>
          <p:cNvSpPr/>
          <p:nvPr/>
        </p:nvSpPr>
        <p:spPr>
          <a:xfrm>
            <a:off x="731520" y="4187952"/>
            <a:ext cx="4114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7F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0697F"/>
                </a:solidFill>
                <a:latin typeface="Calibri"/>
                <a:ea typeface="Calibri"/>
                <a:cs typeface="Calibri"/>
                <a:sym typeface="Calibri"/>
              </a:rPr>
              <a:t>One-click SCP publish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731520" y="4462272"/>
            <a:ext cx="4114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A667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A6670"/>
                </a:solidFill>
                <a:latin typeface="Calibri"/>
                <a:ea typeface="Calibri"/>
                <a:cs typeface="Calibri"/>
                <a:sym typeface="Calibri"/>
              </a:rPr>
              <a:t>Flask builds ranges.json → SCP push to GoDaddy (ed25519, no password)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5"/>
          <p:cNvSpPr/>
          <p:nvPr/>
        </p:nvSpPr>
        <p:spPr>
          <a:xfrm>
            <a:off x="5074920" y="292608"/>
            <a:ext cx="3931920" cy="4572000"/>
          </a:xfrm>
          <a:prstGeom prst="rect">
            <a:avLst/>
          </a:prstGeom>
          <a:solidFill>
            <a:srgbClr val="00697F"/>
          </a:solidFill>
          <a:ln cap="flat" cmpd="sng" w="12700">
            <a:solidFill>
              <a:srgbClr val="B2D8E3">
                <a:alpha val="4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4901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5074920" y="292608"/>
            <a:ext cx="3931920" cy="384048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005E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5"/>
          <p:cNvSpPr/>
          <p:nvPr/>
        </p:nvSpPr>
        <p:spPr>
          <a:xfrm>
            <a:off x="5074920" y="292608"/>
            <a:ext cx="39319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100"/>
              <a:buFont typeface="Consolas"/>
              <a:buNone/>
            </a:pPr>
            <a:r>
              <a:rPr b="1" i="0" lang="en-US" sz="1100" u="none" cap="none" strike="noStrike">
                <a:solidFill>
                  <a:srgbClr val="F4C842"/>
                </a:solidFill>
                <a:latin typeface="Consolas"/>
                <a:ea typeface="Consolas"/>
                <a:cs typeface="Consolas"/>
                <a:sym typeface="Consolas"/>
              </a:rPr>
              <a:t>ranges.json structure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5166360" y="749808"/>
            <a:ext cx="3749040" cy="2286000"/>
          </a:xfrm>
          <a:prstGeom prst="rect">
            <a:avLst/>
          </a:prstGeom>
          <a:solidFill>
            <a:srgbClr val="0D2B33"/>
          </a:solidFill>
          <a:ln cap="flat" cmpd="sng" w="12700">
            <a:solidFill>
              <a:srgbClr val="005E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5"/>
          <p:cNvSpPr/>
          <p:nvPr/>
        </p:nvSpPr>
        <p:spPr>
          <a:xfrm>
            <a:off x="5303520" y="822960"/>
            <a:ext cx="3474720" cy="21396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{ "floors": [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  { "floor": 1,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    "projects": [{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      "collection": "Adult Fiction",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      "shelfLocation": "Adult",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      "directions": "Main floor,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        turn left at entrance",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      "x": 0.312, "y": 0.445,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      "w": 0.118, "h": 0.094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    }]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  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]}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5166360" y="3154680"/>
            <a:ext cx="3749040" cy="1600200"/>
          </a:xfrm>
          <a:prstGeom prst="rect">
            <a:avLst/>
          </a:prstGeom>
          <a:solidFill>
            <a:srgbClr val="0D2B33"/>
          </a:solidFill>
          <a:ln cap="flat" cmpd="sng" w="12700">
            <a:solidFill>
              <a:srgbClr val="005E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5"/>
          <p:cNvSpPr/>
          <p:nvPr/>
        </p:nvSpPr>
        <p:spPr>
          <a:xfrm>
            <a:off x="5303520" y="324612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Google Workspace OAuth 2.0</a:t>
            </a:r>
            <a:br>
              <a:rPr b="1" i="0" lang="en-US" sz="10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303520" y="3547872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• OpenID Connect via Authlib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5"/>
          <p:cNvSpPr/>
          <p:nvPr/>
        </p:nvSpPr>
        <p:spPr>
          <a:xfrm>
            <a:off x="5303520" y="3803904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• @rhpl.org suffix enforced post-token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5303520" y="4059936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• Shared consent screen: RHPL Web Svc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5"/>
          <p:cNvSpPr/>
          <p:nvPr/>
        </p:nvSpPr>
        <p:spPr>
          <a:xfrm>
            <a:off x="5303520" y="4315968"/>
            <a:ext cx="35661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• Flask signed cookies, 2h expiry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RHPL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697F"/>
        </a:soli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7B2D3A"/>
          </a:solidFill>
          <a:ln cap="flat" cmpd="sng" w="12700">
            <a:solidFill>
              <a:srgbClr val="7B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6"/>
          <p:cNvSpPr/>
          <p:nvPr/>
        </p:nvSpPr>
        <p:spPr>
          <a:xfrm>
            <a:off x="274320" y="0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API ARCHITECTURE — FIVE INTEGRATIONS — + GOOGLE OAUTH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6"/>
          <p:cNvSpPr/>
          <p:nvPr/>
        </p:nvSpPr>
        <p:spPr>
          <a:xfrm>
            <a:off x="457200" y="292608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Five APIs. One Seamless Experience.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6"/>
          <p:cNvSpPr/>
          <p:nvPr/>
        </p:nvSpPr>
        <p:spPr>
          <a:xfrm>
            <a:off x="164592" y="1051560"/>
            <a:ext cx="2084832" cy="3858768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6"/>
          <p:cNvSpPr/>
          <p:nvPr/>
        </p:nvSpPr>
        <p:spPr>
          <a:xfrm>
            <a:off x="164592" y="1051560"/>
            <a:ext cx="2084832" cy="54864"/>
          </a:xfrm>
          <a:prstGeom prst="rect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6"/>
          <p:cNvSpPr/>
          <p:nvPr/>
        </p:nvSpPr>
        <p:spPr>
          <a:xfrm>
            <a:off x="914400" y="1179576"/>
            <a:ext cx="58521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📚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6"/>
          <p:cNvSpPr/>
          <p:nvPr/>
        </p:nvSpPr>
        <p:spPr>
          <a:xfrm>
            <a:off x="237744" y="1746504"/>
            <a:ext cx="1938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Polaris PAPI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6"/>
          <p:cNvSpPr/>
          <p:nvPr/>
        </p:nvSpPr>
        <p:spPr>
          <a:xfrm>
            <a:off x="329184" y="2148840"/>
            <a:ext cx="1755648" cy="256032"/>
          </a:xfrm>
          <a:prstGeom prst="roundRect">
            <a:avLst>
              <a:gd fmla="val 14286" name="adj"/>
            </a:avLst>
          </a:prstGeom>
          <a:solidFill>
            <a:srgbClr val="7B2D3A"/>
          </a:solidFill>
          <a:ln cap="flat" cmpd="sng" w="12700">
            <a:solidFill>
              <a:srgbClr val="7B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6"/>
          <p:cNvSpPr/>
          <p:nvPr/>
        </p:nvSpPr>
        <p:spPr>
          <a:xfrm>
            <a:off x="329184" y="2148840"/>
            <a:ext cx="17556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REST + HMAC-SHA1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6"/>
          <p:cNvSpPr/>
          <p:nvPr/>
        </p:nvSpPr>
        <p:spPr>
          <a:xfrm>
            <a:off x="292608" y="25146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PWS AccessID:signature auth header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6"/>
          <p:cNvSpPr/>
          <p:nvPr/>
        </p:nvSpPr>
        <p:spPr>
          <a:xfrm>
            <a:off x="292608" y="285292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/collections  /shelflocations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6"/>
          <p:cNvSpPr/>
          <p:nvPr/>
        </p:nvSpPr>
        <p:spPr>
          <a:xfrm>
            <a:off x="292608" y="3191256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/search/bibs/keyword  (100 results)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6"/>
          <p:cNvSpPr/>
          <p:nvPr/>
        </p:nvSpPr>
        <p:spPr>
          <a:xfrm>
            <a:off x="292608" y="352958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Flask proxy — browser never touches Polaris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/>
          <p:nvPr/>
        </p:nvSpPr>
        <p:spPr>
          <a:xfrm>
            <a:off x="292608" y="386791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OrgID 3 = Main Library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6"/>
          <p:cNvSpPr/>
          <p:nvPr/>
        </p:nvSpPr>
        <p:spPr>
          <a:xfrm>
            <a:off x="256025" y="4233675"/>
            <a:ext cx="1902000" cy="658500"/>
          </a:xfrm>
          <a:prstGeom prst="rect">
            <a:avLst/>
          </a:prstGeom>
          <a:solidFill>
            <a:srgbClr val="0D2B33"/>
          </a:solidFill>
          <a:ln cap="flat" cmpd="sng" w="12700">
            <a:solidFill>
              <a:srgbClr val="0069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6"/>
          <p:cNvSpPr/>
          <p:nvPr/>
        </p:nvSpPr>
        <p:spPr>
          <a:xfrm>
            <a:off x="301752" y="4251960"/>
            <a:ext cx="18105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auth = f"PWS {id}:{sig}"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# sig = base64(hmac-sha1(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#  "GET\n\n{type}\n{date}\n{uri}")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# 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6"/>
          <p:cNvSpPr/>
          <p:nvPr/>
        </p:nvSpPr>
        <p:spPr>
          <a:xfrm>
            <a:off x="2359152" y="1051560"/>
            <a:ext cx="2084832" cy="3858768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7" name="Google Shape;167;p6"/>
          <p:cNvSpPr/>
          <p:nvPr/>
        </p:nvSpPr>
        <p:spPr>
          <a:xfrm>
            <a:off x="2359152" y="1051560"/>
            <a:ext cx="2084832" cy="54864"/>
          </a:xfrm>
          <a:prstGeom prst="rect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6"/>
          <p:cNvSpPr/>
          <p:nvPr/>
        </p:nvSpPr>
        <p:spPr>
          <a:xfrm>
            <a:off x="3108960" y="1179576"/>
            <a:ext cx="58521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6"/>
          <p:cNvSpPr/>
          <p:nvPr/>
        </p:nvSpPr>
        <p:spPr>
          <a:xfrm>
            <a:off x="2432304" y="1746504"/>
            <a:ext cx="1938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Vega Discover DOM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6"/>
          <p:cNvSpPr/>
          <p:nvPr/>
        </p:nvSpPr>
        <p:spPr>
          <a:xfrm>
            <a:off x="2523744" y="2148840"/>
            <a:ext cx="1755648" cy="256032"/>
          </a:xfrm>
          <a:prstGeom prst="roundRect">
            <a:avLst>
              <a:gd fmla="val 14286" name="adj"/>
            </a:avLst>
          </a:prstGeom>
          <a:solidFill>
            <a:srgbClr val="7B2D3A"/>
          </a:solidFill>
          <a:ln cap="flat" cmpd="sng" w="12700">
            <a:solidFill>
              <a:srgbClr val="7B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6"/>
          <p:cNvSpPr/>
          <p:nvPr/>
        </p:nvSpPr>
        <p:spPr>
          <a:xfrm>
            <a:off x="2523744" y="2148840"/>
            <a:ext cx="17556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MutationObserver + polling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6"/>
          <p:cNvSpPr/>
          <p:nvPr/>
        </p:nvSpPr>
        <p:spPr>
          <a:xfrm>
            <a:off x="2487168" y="25146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data-automation-id attribute scanning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6"/>
          <p:cNvSpPr/>
          <p:nvPr/>
        </p:nvSpPr>
        <p:spPr>
          <a:xfrm>
            <a:off x="2487168" y="285292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item-availability-message → collection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6"/>
          <p:cNvSpPr/>
          <p:nvPr/>
        </p:nvSpPr>
        <p:spPr>
          <a:xfrm>
            <a:off x="2487168" y="3191256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item-call-number-and-location → Dewey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6"/>
          <p:cNvSpPr/>
          <p:nvPr/>
        </p:nvSpPr>
        <p:spPr>
          <a:xfrm>
            <a:off x="2487168" y="352958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J/YA/E/JE prefix stripping before match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6"/>
          <p:cNvSpPr/>
          <p:nvPr/>
        </p:nvSpPr>
        <p:spPr>
          <a:xfrm>
            <a:off x="2487168" y="386791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Injects button next to Place Hold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6"/>
          <p:cNvSpPr/>
          <p:nvPr/>
        </p:nvSpPr>
        <p:spPr>
          <a:xfrm>
            <a:off x="2450600" y="4233676"/>
            <a:ext cx="1902000" cy="676800"/>
          </a:xfrm>
          <a:prstGeom prst="rect">
            <a:avLst/>
          </a:prstGeom>
          <a:solidFill>
            <a:srgbClr val="0D2B33"/>
          </a:solidFill>
          <a:ln cap="flat" cmpd="sng" w="12700">
            <a:solidFill>
              <a:srgbClr val="0069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6"/>
          <p:cNvSpPr/>
          <p:nvPr/>
        </p:nvSpPr>
        <p:spPr>
          <a:xfrm>
            <a:off x="2496312" y="4251960"/>
            <a:ext cx="18105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observer = new MutationObserver(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  checkAndInject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// + 500ms poll, 30s timeout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6"/>
          <p:cNvSpPr/>
          <p:nvPr/>
        </p:nvSpPr>
        <p:spPr>
          <a:xfrm>
            <a:off x="4553712" y="1051560"/>
            <a:ext cx="2084832" cy="3858768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0" name="Google Shape;180;p6"/>
          <p:cNvSpPr/>
          <p:nvPr/>
        </p:nvSpPr>
        <p:spPr>
          <a:xfrm>
            <a:off x="4553712" y="1051560"/>
            <a:ext cx="2084832" cy="54864"/>
          </a:xfrm>
          <a:prstGeom prst="rect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6"/>
          <p:cNvSpPr/>
          <p:nvPr/>
        </p:nvSpPr>
        <p:spPr>
          <a:xfrm>
            <a:off x="5303520" y="1179576"/>
            <a:ext cx="58521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🖼️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6"/>
          <p:cNvSpPr/>
          <p:nvPr/>
        </p:nvSpPr>
        <p:spPr>
          <a:xfrm>
            <a:off x="4626864" y="1746504"/>
            <a:ext cx="1938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Syndetics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6"/>
          <p:cNvSpPr/>
          <p:nvPr/>
        </p:nvSpPr>
        <p:spPr>
          <a:xfrm>
            <a:off x="4718304" y="2148840"/>
            <a:ext cx="1755648" cy="256032"/>
          </a:xfrm>
          <a:prstGeom prst="roundRect">
            <a:avLst>
              <a:gd fmla="val 14286" name="adj"/>
            </a:avLst>
          </a:prstGeom>
          <a:solidFill>
            <a:srgbClr val="7B2D3A"/>
          </a:solidFill>
          <a:ln cap="flat" cmpd="sng" w="12700">
            <a:solidFill>
              <a:srgbClr val="7B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6"/>
          <p:cNvSpPr/>
          <p:nvPr/>
        </p:nvSpPr>
        <p:spPr>
          <a:xfrm>
            <a:off x="4718304" y="2148840"/>
            <a:ext cx="17556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Clarivate — free w/ subscription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6"/>
          <p:cNvSpPr/>
          <p:nvPr/>
        </p:nvSpPr>
        <p:spPr>
          <a:xfrm>
            <a:off x="4681728" y="25146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▸ISBN: syndetics.com?isbn=…/MC.GIF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6"/>
          <p:cNvSpPr/>
          <p:nvPr/>
        </p:nvSpPr>
        <p:spPr>
          <a:xfrm>
            <a:off x="4681728" y="285292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MC.GIF = 132×200px medium cover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4681728" y="3191256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No client ID needed for cover API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6"/>
          <p:cNvSpPr/>
          <p:nvPr/>
        </p:nvSpPr>
        <p:spPr>
          <a:xfrm>
            <a:off x="4681728" y="352958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Account 2292 = Syndetics Unbound (separate)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6"/>
          <p:cNvSpPr/>
          <p:nvPr/>
        </p:nvSpPr>
        <p:spPr>
          <a:xfrm>
            <a:off x="4681728" y="386791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UPC fallback for DVDs/Blu-rays (no ISBN)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645152" y="4233672"/>
            <a:ext cx="1901952" cy="594360"/>
          </a:xfrm>
          <a:prstGeom prst="rect">
            <a:avLst/>
          </a:prstGeom>
          <a:solidFill>
            <a:srgbClr val="0D2B33"/>
          </a:solidFill>
          <a:ln cap="flat" cmpd="sng" w="12700">
            <a:solidFill>
              <a:srgbClr val="0069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6"/>
          <p:cNvSpPr/>
          <p:nvPr/>
        </p:nvSpPr>
        <p:spPr>
          <a:xfrm>
            <a:off x="4690872" y="4251960"/>
            <a:ext cx="18105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img.src = `${SYND_BASE}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  ?isbn=${isbn}/MC.GIF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  &amp;client=2292`;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img.onerror=()=&gt;img.remove();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6748272" y="1051560"/>
            <a:ext cx="2084832" cy="3858768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3" name="Google Shape;193;p6"/>
          <p:cNvSpPr/>
          <p:nvPr/>
        </p:nvSpPr>
        <p:spPr>
          <a:xfrm>
            <a:off x="6748272" y="1051560"/>
            <a:ext cx="2084832" cy="54864"/>
          </a:xfrm>
          <a:prstGeom prst="rect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7498080" y="1179576"/>
            <a:ext cx="585216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🔗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6"/>
          <p:cNvSpPr/>
          <p:nvPr/>
        </p:nvSpPr>
        <p:spPr>
          <a:xfrm>
            <a:off x="6821424" y="1746504"/>
            <a:ext cx="193852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Vega Deep Links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6912864" y="2148840"/>
            <a:ext cx="1755648" cy="256032"/>
          </a:xfrm>
          <a:prstGeom prst="roundRect">
            <a:avLst>
              <a:gd fmla="val 14286" name="adj"/>
            </a:avLst>
          </a:prstGeom>
          <a:solidFill>
            <a:srgbClr val="7B2D3A"/>
          </a:solidFill>
          <a:ln cap="flat" cmpd="sng" w="12700">
            <a:solidFill>
              <a:srgbClr val="7B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7" name="Google Shape;197;p6"/>
          <p:cNvSpPr/>
          <p:nvPr/>
        </p:nvSpPr>
        <p:spPr>
          <a:xfrm>
            <a:off x="6912864" y="2148840"/>
            <a:ext cx="175564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i="0" lang="en-US" sz="85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URL pattern injection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6876288" y="2514600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▸rhpl.na3.iiivega.com/search?query=…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6876288" y="2852928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&amp;searchType=everything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6"/>
          <p:cNvSpPr/>
          <p:nvPr/>
        </p:nvSpPr>
        <p:spPr>
          <a:xfrm>
            <a:off x="6876288" y="3191256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"View in Catalog →" from map info card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6"/>
          <p:cNvSpPr/>
          <p:nvPr/>
        </p:nvSpPr>
        <p:spPr>
          <a:xfrm>
            <a:off x="6876288" y="3529584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Title cleaned: strip [large print] [kit]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6876288" y="3867912"/>
            <a:ext cx="18288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URL-encoded before injection</a:t>
            </a:r>
            <a:endParaRPr b="0" i="0" sz="95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6839700" y="4233676"/>
            <a:ext cx="1902000" cy="676800"/>
          </a:xfrm>
          <a:prstGeom prst="rect">
            <a:avLst/>
          </a:prstGeom>
          <a:solidFill>
            <a:srgbClr val="0D2B33"/>
          </a:solidFill>
          <a:ln cap="flat" cmpd="sng" w="12700">
            <a:solidFill>
              <a:srgbClr val="0069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6885432" y="4251960"/>
            <a:ext cx="18105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const clean = title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  .replace(/\[.*?\]/g, "")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  .trim();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const url = VEGA_BASE +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750"/>
              <a:buFont typeface="Consolas"/>
              <a:buNone/>
            </a:pPr>
            <a:r>
              <a:rPr b="0" i="0" lang="en-US" sz="7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  encodeURIComponent(clean);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9"/>
        </a:solidFill>
      </p:bgPr>
    </p:bg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7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97F"/>
          </a:solidFill>
          <a:ln cap="flat" cmpd="sng" w="12700">
            <a:solidFill>
              <a:srgbClr val="0069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7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697F"/>
          </a:solidFill>
          <a:ln cap="flat" cmpd="sng" w="12700">
            <a:solidFill>
              <a:srgbClr val="0069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7"/>
          <p:cNvSpPr/>
          <p:nvPr/>
        </p:nvSpPr>
        <p:spPr>
          <a:xfrm>
            <a:off x="274320" y="0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DATA FLOW — EDITOR → RANGES.JSON → MAP APP + VEGA WIDGET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7"/>
          <p:cNvSpPr/>
          <p:nvPr/>
        </p:nvSpPr>
        <p:spPr>
          <a:xfrm>
            <a:off x="384048" y="301752"/>
            <a:ext cx="822960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3A42"/>
                </a:solidFill>
                <a:latin typeface="Calibri"/>
                <a:ea typeface="Calibri"/>
                <a:cs typeface="Calibri"/>
                <a:sym typeface="Calibri"/>
              </a:rPr>
              <a:t>One Config File. Two Patron Surfaces.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7"/>
          <p:cNvSpPr/>
          <p:nvPr/>
        </p:nvSpPr>
        <p:spPr>
          <a:xfrm>
            <a:off x="274320" y="987552"/>
            <a:ext cx="1371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7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697F"/>
                </a:solidFill>
                <a:latin typeface="Calibri"/>
                <a:ea typeface="Calibri"/>
                <a:cs typeface="Calibri"/>
                <a:sym typeface="Calibri"/>
              </a:rPr>
              <a:t>STAFF SIDE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7"/>
          <p:cNvSpPr/>
          <p:nvPr/>
        </p:nvSpPr>
        <p:spPr>
          <a:xfrm>
            <a:off x="274320" y="1261872"/>
            <a:ext cx="1417320" cy="658368"/>
          </a:xfrm>
          <a:prstGeom prst="rect">
            <a:avLst/>
          </a:prstGeom>
          <a:solidFill>
            <a:srgbClr val="00697F"/>
          </a:solidFill>
          <a:ln cap="flat" cmpd="sng" w="12700">
            <a:solidFill>
              <a:srgbClr val="0069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7"/>
          <p:cNvSpPr/>
          <p:nvPr/>
        </p:nvSpPr>
        <p:spPr>
          <a:xfrm>
            <a:off x="347472" y="1261872"/>
            <a:ext cx="1271016" cy="342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Google OAuth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7"/>
          <p:cNvSpPr/>
          <p:nvPr/>
        </p:nvSpPr>
        <p:spPr>
          <a:xfrm>
            <a:off x="347472" y="1604223"/>
            <a:ext cx="1271016" cy="31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@rhpl.org only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7"/>
          <p:cNvSpPr/>
          <p:nvPr/>
        </p:nvSpPr>
        <p:spPr>
          <a:xfrm>
            <a:off x="1709928" y="1389888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7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697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7"/>
          <p:cNvSpPr/>
          <p:nvPr/>
        </p:nvSpPr>
        <p:spPr>
          <a:xfrm>
            <a:off x="1984248" y="1261872"/>
            <a:ext cx="1554480" cy="658368"/>
          </a:xfrm>
          <a:prstGeom prst="rect">
            <a:avLst/>
          </a:prstGeom>
          <a:solidFill>
            <a:srgbClr val="00697F"/>
          </a:solidFill>
          <a:ln cap="flat" cmpd="sng" w="12700">
            <a:solidFill>
              <a:srgbClr val="0069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7"/>
          <p:cNvSpPr/>
          <p:nvPr/>
        </p:nvSpPr>
        <p:spPr>
          <a:xfrm>
            <a:off x="2057400" y="1261872"/>
            <a:ext cx="1408176" cy="342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Polaris PAPI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7"/>
          <p:cNvSpPr/>
          <p:nvPr/>
        </p:nvSpPr>
        <p:spPr>
          <a:xfrm>
            <a:off x="2057400" y="1604223"/>
            <a:ext cx="1408176" cy="31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Collections + Locations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7"/>
          <p:cNvSpPr/>
          <p:nvPr/>
        </p:nvSpPr>
        <p:spPr>
          <a:xfrm>
            <a:off x="3566160" y="1389888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7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697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3840480" y="1261872"/>
            <a:ext cx="1691640" cy="658368"/>
          </a:xfrm>
          <a:prstGeom prst="rect">
            <a:avLst/>
          </a:prstGeom>
          <a:solidFill>
            <a:srgbClr val="00697F"/>
          </a:solidFill>
          <a:ln cap="flat" cmpd="sng" w="12700">
            <a:solidFill>
              <a:srgbClr val="0069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7"/>
          <p:cNvSpPr/>
          <p:nvPr/>
        </p:nvSpPr>
        <p:spPr>
          <a:xfrm>
            <a:off x="3913632" y="1261872"/>
            <a:ext cx="1545336" cy="342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Canvas Editor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7"/>
          <p:cNvSpPr/>
          <p:nvPr/>
        </p:nvSpPr>
        <p:spPr>
          <a:xfrm>
            <a:off x="3913632" y="1604223"/>
            <a:ext cx="1545336" cy="31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Draw + Label + Landmarks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7"/>
          <p:cNvSpPr/>
          <p:nvPr/>
        </p:nvSpPr>
        <p:spPr>
          <a:xfrm>
            <a:off x="5559552" y="1389888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7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697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7"/>
          <p:cNvSpPr/>
          <p:nvPr/>
        </p:nvSpPr>
        <p:spPr>
          <a:xfrm>
            <a:off x="5833872" y="1261872"/>
            <a:ext cx="1508760" cy="658368"/>
          </a:xfrm>
          <a:prstGeom prst="rect">
            <a:avLst/>
          </a:prstGeom>
          <a:solidFill>
            <a:srgbClr val="00697F"/>
          </a:solidFill>
          <a:ln cap="flat" cmpd="sng" w="12700">
            <a:solidFill>
              <a:srgbClr val="00697F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7"/>
          <p:cNvSpPr/>
          <p:nvPr/>
        </p:nvSpPr>
        <p:spPr>
          <a:xfrm>
            <a:off x="5907024" y="1261872"/>
            <a:ext cx="1362456" cy="342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Publish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5907024" y="1604223"/>
            <a:ext cx="1362456" cy="31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SCP → GoDaddy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7370064" y="1389888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7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697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"/>
          <p:cNvSpPr/>
          <p:nvPr/>
        </p:nvSpPr>
        <p:spPr>
          <a:xfrm>
            <a:off x="7635240" y="1005840"/>
            <a:ext cx="1371600" cy="1371600"/>
          </a:xfrm>
          <a:prstGeom prst="rect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7635240" y="1005840"/>
            <a:ext cx="13716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42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1A3A42"/>
                </a:solidFill>
                <a:latin typeface="Consolas"/>
                <a:ea typeface="Consolas"/>
                <a:cs typeface="Consolas"/>
                <a:sym typeface="Consolas"/>
              </a:rPr>
              <a:t>ranges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42"/>
              </a:buClr>
              <a:buSzPts val="1600"/>
              <a:buFont typeface="Consolas"/>
              <a:buNone/>
            </a:pPr>
            <a:r>
              <a:rPr b="1" i="0" lang="en-US" sz="1600" u="none" cap="none" strike="noStrike">
                <a:solidFill>
                  <a:srgbClr val="1A3A42"/>
                </a:solidFill>
                <a:latin typeface="Consolas"/>
                <a:ea typeface="Consolas"/>
                <a:cs typeface="Consolas"/>
                <a:sym typeface="Consolas"/>
              </a:rPr>
              <a:t>.json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7"/>
          <p:cNvSpPr/>
          <p:nvPr/>
        </p:nvSpPr>
        <p:spPr>
          <a:xfrm>
            <a:off x="7315200" y="242316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7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697F"/>
                </a:solidFill>
                <a:latin typeface="Calibri"/>
                <a:ea typeface="Calibri"/>
                <a:cs typeface="Calibri"/>
                <a:sym typeface="Calibri"/>
              </a:rPr>
              <a:t>↙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8229600" y="2423160"/>
            <a:ext cx="457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7F"/>
              </a:buClr>
              <a:buSzPts val="2000"/>
              <a:buFont typeface="Calibri"/>
              <a:buNone/>
            </a:pPr>
            <a:r>
              <a:rPr b="0" i="0" lang="en-US" sz="2000" u="none" cap="none" strike="noStrike">
                <a:solidFill>
                  <a:srgbClr val="00697F"/>
                </a:solidFill>
                <a:latin typeface="Calibri"/>
                <a:ea typeface="Calibri"/>
                <a:cs typeface="Calibri"/>
                <a:sym typeface="Calibri"/>
              </a:rPr>
              <a:t>↘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274320" y="2816352"/>
            <a:ext cx="14630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7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00697F"/>
                </a:solidFill>
                <a:latin typeface="Calibri"/>
                <a:ea typeface="Calibri"/>
                <a:cs typeface="Calibri"/>
                <a:sym typeface="Calibri"/>
              </a:rPr>
              <a:t>PATRON SIDE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274320" y="3090672"/>
            <a:ext cx="1645920" cy="658368"/>
          </a:xfrm>
          <a:prstGeom prst="rect">
            <a:avLst/>
          </a:prstGeom>
          <a:solidFill>
            <a:srgbClr val="004D5C"/>
          </a:solidFill>
          <a:ln cap="flat" cmpd="sng" w="12700">
            <a:solidFill>
              <a:srgbClr val="004D5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347472" y="3090672"/>
            <a:ext cx="1499616" cy="342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map.rhpl.org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347472" y="3433023"/>
            <a:ext cx="1499616" cy="31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Search bar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7"/>
          <p:cNvSpPr/>
          <p:nvPr/>
        </p:nvSpPr>
        <p:spPr>
          <a:xfrm>
            <a:off x="1947672" y="3218688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7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697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2221992" y="3090672"/>
            <a:ext cx="1645920" cy="658368"/>
          </a:xfrm>
          <a:prstGeom prst="rect">
            <a:avLst/>
          </a:prstGeom>
          <a:solidFill>
            <a:srgbClr val="004D5C"/>
          </a:solidFill>
          <a:ln cap="flat" cmpd="sng" w="12700">
            <a:solidFill>
              <a:srgbClr val="004D5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2295144" y="3090672"/>
            <a:ext cx="1499616" cy="342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Polaris PAPI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2295144" y="3433023"/>
            <a:ext cx="1499616" cy="31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Flask proxy search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3895344" y="3218688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7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697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4169664" y="3090672"/>
            <a:ext cx="1645920" cy="658368"/>
          </a:xfrm>
          <a:prstGeom prst="rect">
            <a:avLst/>
          </a:prstGeom>
          <a:solidFill>
            <a:srgbClr val="004D5C"/>
          </a:solidFill>
          <a:ln cap="flat" cmpd="sng" w="12700">
            <a:solidFill>
              <a:srgbClr val="004D5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4242816" y="3090672"/>
            <a:ext cx="1499616" cy="342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ranges.json match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242816" y="3433023"/>
            <a:ext cx="1499616" cy="31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Sorted 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5843016" y="3218688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7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697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6117336" y="3090672"/>
            <a:ext cx="1463040" cy="658368"/>
          </a:xfrm>
          <a:prstGeom prst="rect">
            <a:avLst/>
          </a:prstGeom>
          <a:solidFill>
            <a:srgbClr val="004D5C"/>
          </a:solidFill>
          <a:ln cap="flat" cmpd="sng" w="12700">
            <a:solidFill>
              <a:srgbClr val="004D5C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6190488" y="3090672"/>
            <a:ext cx="1316736" cy="342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Pin + highlight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6190488" y="3433023"/>
            <a:ext cx="1316736" cy="31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+ book anim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274320" y="3977640"/>
            <a:ext cx="1645920" cy="658368"/>
          </a:xfrm>
          <a:prstGeom prst="rect">
            <a:avLst/>
          </a:prstGeom>
          <a:solidFill>
            <a:srgbClr val="7B2D3A"/>
          </a:solidFill>
          <a:ln cap="flat" cmpd="sng" w="12700">
            <a:solidFill>
              <a:srgbClr val="7B2D3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347472" y="3977640"/>
            <a:ext cx="1499616" cy="342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Vega Discover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347472" y="4319991"/>
            <a:ext cx="1499616" cy="31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iic.rhpl.org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1947672" y="4105656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7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697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2221992" y="3977640"/>
            <a:ext cx="1737360" cy="658368"/>
          </a:xfrm>
          <a:prstGeom prst="rect">
            <a:avLst/>
          </a:prstGeom>
          <a:solidFill>
            <a:srgbClr val="7B2D3A"/>
          </a:solidFill>
          <a:ln cap="flat" cmpd="sng" w="12700">
            <a:solidFill>
              <a:srgbClr val="7B2D3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2295144" y="3977640"/>
            <a:ext cx="1591056" cy="342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DOM scan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2295144" y="4319991"/>
            <a:ext cx="1591056" cy="31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data-automation-id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3986784" y="4105656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7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697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4261104" y="3977640"/>
            <a:ext cx="1691640" cy="658368"/>
          </a:xfrm>
          <a:prstGeom prst="rect">
            <a:avLst/>
          </a:prstGeom>
          <a:solidFill>
            <a:srgbClr val="7B2D3A"/>
          </a:solidFill>
          <a:ln cap="flat" cmpd="sng" w="12700">
            <a:solidFill>
              <a:srgbClr val="7B2D3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334256" y="3977640"/>
            <a:ext cx="1545336" cy="342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Button inject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4334256" y="4319991"/>
            <a:ext cx="1545336" cy="31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View Shelf Location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5980176" y="4105656"/>
            <a:ext cx="256032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7F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rgbClr val="00697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6254496" y="3977640"/>
            <a:ext cx="1417320" cy="658368"/>
          </a:xfrm>
          <a:prstGeom prst="rect">
            <a:avLst/>
          </a:prstGeom>
          <a:solidFill>
            <a:srgbClr val="7B2D3A"/>
          </a:solidFill>
          <a:ln cap="flat" cmpd="sng" w="12700">
            <a:solidFill>
              <a:srgbClr val="7B2D3A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bl" dir="81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6327648" y="3977640"/>
            <a:ext cx="1271016" cy="3423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Modal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6327648" y="4319991"/>
            <a:ext cx="1271016" cy="3160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Floor plan + info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7754112" y="3246120"/>
            <a:ext cx="1280160" cy="411480"/>
          </a:xfrm>
          <a:prstGeom prst="roundRect">
            <a:avLst>
              <a:gd fmla="val 11111" name="adj"/>
            </a:avLst>
          </a:prstGeom>
          <a:solidFill>
            <a:srgbClr val="005E73"/>
          </a:solidFill>
          <a:ln cap="flat" cmpd="sng" w="12700">
            <a:solidFill>
              <a:srgbClr val="0069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7754112" y="3246120"/>
            <a:ext cx="12801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Syndetics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cover art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7"/>
          <p:cNvSpPr/>
          <p:nvPr/>
        </p:nvSpPr>
        <p:spPr>
          <a:xfrm>
            <a:off x="8119872" y="2971800"/>
            <a:ext cx="36576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7F"/>
              </a:buClr>
              <a:buSzPts val="1300"/>
              <a:buFont typeface="Calibri"/>
              <a:buNone/>
            </a:pPr>
            <a:r>
              <a:rPr b="0" i="0" lang="en-US" sz="1300" u="none" cap="none" strike="noStrike">
                <a:solidFill>
                  <a:srgbClr val="00697F"/>
                </a:solidFill>
                <a:latin typeface="Calibri"/>
                <a:ea typeface="Calibri"/>
                <a:cs typeface="Calibri"/>
                <a:sym typeface="Calibri"/>
              </a:rPr>
              <a:t>↑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RHPL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697F"/>
        </a:solidFill>
      </p:bgPr>
    </p:bg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8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7B2D3A"/>
          </a:solidFill>
          <a:ln cap="flat" cmpd="sng" w="12700">
            <a:solidFill>
              <a:srgbClr val="7B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8"/>
          <p:cNvSpPr/>
          <p:nvPr/>
        </p:nvSpPr>
        <p:spPr>
          <a:xfrm>
            <a:off x="274320" y="0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TECHNICAL STACK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8"/>
          <p:cNvSpPr/>
          <p:nvPr/>
        </p:nvSpPr>
        <p:spPr>
          <a:xfrm>
            <a:off x="457200" y="292608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~3,000 Lines of Vanilla JavaScript. Zero Frameworks.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256032" y="1051560"/>
            <a:ext cx="2834640" cy="2359152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256032" y="1051560"/>
            <a:ext cx="2834640" cy="347472"/>
          </a:xfrm>
          <a:prstGeom prst="rect">
            <a:avLst/>
          </a:prstGeom>
          <a:solidFill>
            <a:srgbClr val="004D5C"/>
          </a:solidFill>
          <a:ln cap="flat" cmpd="sng" w="12700">
            <a:solidFill>
              <a:srgbClr val="004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8"/>
          <p:cNvSpPr/>
          <p:nvPr/>
        </p:nvSpPr>
        <p:spPr>
          <a:xfrm>
            <a:off x="256032" y="10515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393192" y="1508760"/>
            <a:ext cx="2606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1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Python 3.13</a:t>
            </a:r>
            <a:endParaRPr b="1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393192" y="1965960"/>
            <a:ext cx="2606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1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Flask 3.1.3</a:t>
            </a:r>
            <a:endParaRPr b="1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393192" y="2423160"/>
            <a:ext cx="2606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1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Authlib 1.6.9</a:t>
            </a:r>
            <a:endParaRPr b="1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8"/>
          <p:cNvSpPr/>
          <p:nvPr/>
        </p:nvSpPr>
        <p:spPr>
          <a:xfrm>
            <a:off x="393192" y="2880360"/>
            <a:ext cx="2606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100"/>
              <a:buFont typeface="Calibri"/>
              <a:buNone/>
            </a:pPr>
            <a:r>
              <a:rPr b="1" i="0" lang="en-US" sz="15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Gunicorn 25.3.0</a:t>
            </a:r>
            <a:endParaRPr b="1" i="0" sz="1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3273552" y="1051560"/>
            <a:ext cx="2834640" cy="2359152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8"/>
          <p:cNvSpPr/>
          <p:nvPr/>
        </p:nvSpPr>
        <p:spPr>
          <a:xfrm>
            <a:off x="3273552" y="1051560"/>
            <a:ext cx="2834640" cy="347472"/>
          </a:xfrm>
          <a:prstGeom prst="rect">
            <a:avLst/>
          </a:prstGeom>
          <a:solidFill>
            <a:srgbClr val="004D5C"/>
          </a:solidFill>
          <a:ln cap="flat" cmpd="sng" w="12700">
            <a:solidFill>
              <a:srgbClr val="004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3273552" y="10515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8"/>
          <p:cNvSpPr/>
          <p:nvPr/>
        </p:nvSpPr>
        <p:spPr>
          <a:xfrm>
            <a:off x="3410712" y="1508760"/>
            <a:ext cx="2606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1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Vanilla HTML/CSS/JS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3410712" y="1965960"/>
            <a:ext cx="2606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1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HTML5 Canvas (editor)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3410712" y="2423160"/>
            <a:ext cx="2606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1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Dynamic SVG (map overlay)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"/>
          <p:cNvSpPr/>
          <p:nvPr/>
        </p:nvSpPr>
        <p:spPr>
          <a:xfrm>
            <a:off x="3410712" y="2880360"/>
            <a:ext cx="2606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100"/>
              <a:buFont typeface="Calibri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Zero npm · Zero build step</a:t>
            </a:r>
            <a:endParaRPr b="1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6291072" y="1051560"/>
            <a:ext cx="2834640" cy="2359152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6291072" y="1051560"/>
            <a:ext cx="2834640" cy="347472"/>
          </a:xfrm>
          <a:prstGeom prst="rect">
            <a:avLst/>
          </a:prstGeom>
          <a:solidFill>
            <a:srgbClr val="004D5C"/>
          </a:solidFill>
          <a:ln cap="flat" cmpd="sng" w="12700">
            <a:solidFill>
              <a:srgbClr val="004D5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6291072" y="10515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Infra / Deploy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6428232" y="1508760"/>
            <a:ext cx="2606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Nginx + *.rhpl.org wildcard SSL</a:t>
            </a:r>
            <a:endParaRPr b="1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6428232" y="1965960"/>
            <a:ext cx="2606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GoDaddy Apache (JS + JSON + images)</a:t>
            </a:r>
            <a:endParaRPr b="1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6428232" y="2423160"/>
            <a:ext cx="2606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SCP via ed25519 key (no password)</a:t>
            </a:r>
            <a:endParaRPr b="1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6428232" y="2880360"/>
            <a:ext cx="26060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▸  DNS: GoDaddy A → 216.150.230.172</a:t>
            </a:r>
            <a:endParaRPr b="1" i="0" sz="11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256032" y="3611880"/>
            <a:ext cx="1627632" cy="1298448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256032" y="3611880"/>
            <a:ext cx="1627632" cy="54864"/>
          </a:xfrm>
          <a:prstGeom prst="rect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256032" y="3657600"/>
            <a:ext cx="16276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~3,000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256032" y="4315968"/>
            <a:ext cx="16276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lines vanilla JS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2002536" y="3611880"/>
            <a:ext cx="1627632" cy="1298448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2002536" y="3611880"/>
            <a:ext cx="1627632" cy="54864"/>
          </a:xfrm>
          <a:prstGeom prst="rect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2002536" y="3657600"/>
            <a:ext cx="16276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2002536" y="4315968"/>
            <a:ext cx="16276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npm dependencies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8"/>
          <p:cNvSpPr/>
          <p:nvPr/>
        </p:nvSpPr>
        <p:spPr>
          <a:xfrm>
            <a:off x="3749040" y="3611880"/>
            <a:ext cx="1627632" cy="1298448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3749040" y="3611880"/>
            <a:ext cx="1627632" cy="54864"/>
          </a:xfrm>
          <a:prstGeom prst="rect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3749040" y="3657600"/>
            <a:ext cx="16276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0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8"/>
          <p:cNvSpPr/>
          <p:nvPr/>
        </p:nvSpPr>
        <p:spPr>
          <a:xfrm>
            <a:off x="3749040" y="4315968"/>
            <a:ext cx="16276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CSS frameworks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5495544" y="3611880"/>
            <a:ext cx="1627632" cy="1298448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5495544" y="3611880"/>
            <a:ext cx="1627632" cy="54864"/>
          </a:xfrm>
          <a:prstGeom prst="rect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3" name="Google Shape;313;p8"/>
          <p:cNvSpPr/>
          <p:nvPr/>
        </p:nvSpPr>
        <p:spPr>
          <a:xfrm>
            <a:off x="5495544" y="3657600"/>
            <a:ext cx="16276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MIT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5495544" y="4315968"/>
            <a:ext cx="16276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open source license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7242048" y="3611880"/>
            <a:ext cx="1627632" cy="1298448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25098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7242048" y="3611880"/>
            <a:ext cx="1627632" cy="54864"/>
          </a:xfrm>
          <a:prstGeom prst="rect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8"/>
          <p:cNvSpPr/>
          <p:nvPr/>
        </p:nvSpPr>
        <p:spPr>
          <a:xfrm>
            <a:off x="7242048" y="3657600"/>
            <a:ext cx="1627632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ed25519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8"/>
          <p:cNvSpPr/>
          <p:nvPr/>
        </p:nvSpPr>
        <p:spPr>
          <a:xfrm>
            <a:off x="7242048" y="4315968"/>
            <a:ext cx="162763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deploy key auth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0F7F9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9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697F"/>
          </a:solidFill>
          <a:ln cap="flat" cmpd="sng" w="12700">
            <a:solidFill>
              <a:srgbClr val="0069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00697F"/>
          </a:solidFill>
          <a:ln cap="flat" cmpd="sng" w="12700">
            <a:solidFill>
              <a:srgbClr val="00697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274320" y="0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SVG RENDERING + SEARCH MATCHING ALGORITHM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384048" y="301752"/>
            <a:ext cx="731520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3A42"/>
              </a:buClr>
              <a:buSzPts val="2800"/>
              <a:buFont typeface="Calibri"/>
              <a:buNone/>
            </a:pPr>
            <a:r>
              <a:rPr b="1" i="0" lang="en-US" sz="2800" u="none" cap="none" strike="noStrike">
                <a:solidFill>
                  <a:srgbClr val="1A3A42"/>
                </a:solidFill>
                <a:latin typeface="Calibri"/>
                <a:ea typeface="Calibri"/>
                <a:cs typeface="Calibri"/>
                <a:sym typeface="Calibri"/>
              </a:rPr>
              <a:t>Under the Hood: SVG + Matching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384048" y="96012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7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697F"/>
                </a:solidFill>
                <a:latin typeface="Calibri"/>
                <a:ea typeface="Calibri"/>
                <a:cs typeface="Calibri"/>
                <a:sym typeface="Calibri"/>
              </a:rPr>
              <a:t>SVG Shelf Rendering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274320" y="1280160"/>
            <a:ext cx="4251960" cy="2148840"/>
          </a:xfrm>
          <a:prstGeom prst="rect">
            <a:avLst/>
          </a:prstGeom>
          <a:solidFill>
            <a:srgbClr val="0D2B33"/>
          </a:solidFill>
          <a:ln cap="flat" cmpd="sng" w="12700">
            <a:solidFill>
              <a:srgbClr val="005E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411480" y="1353312"/>
            <a:ext cx="3977640" cy="2002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// Shelf highlight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fill: #00697f  opacity: 18%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stroke: 0.25  rx: 0.3 (rounded)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// Animated book marker (SVG group)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• Teal spine: rect 0.16 wide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• White right page + 4 grey text lines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• Left page: animateTransform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  scale 1,1 → 0.15,1 → 1,1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  dur: 2.5s  repeatCount: indefinite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  transformOrigin: spine edge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384048" y="35204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7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697F"/>
                </a:solidFill>
                <a:latin typeface="Calibri"/>
                <a:ea typeface="Calibri"/>
                <a:cs typeface="Calibri"/>
                <a:sym typeface="Calibri"/>
              </a:rPr>
              <a:t>Landmark Icons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274320" y="3840480"/>
            <a:ext cx="4251960" cy="1051560"/>
          </a:xfrm>
          <a:prstGeom prst="rect">
            <a:avLst/>
          </a:prstGeom>
          <a:solidFill>
            <a:srgbClr val="0D2B33"/>
          </a:solidFill>
          <a:ln cap="flat" cmpd="sng" w="12700">
            <a:solidFill>
              <a:srgbClr val="005E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411480" y="3913632"/>
            <a:ext cx="3977640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// HTML div (not SVG — avoids stretching)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36px circle + pin marker (HTML, not SVG)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position: % left/top + translate(-50%,-50%)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z-index: landmarks 1, highlight 5, pin 10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4754880" y="960120"/>
            <a:ext cx="42062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7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697F"/>
                </a:solidFill>
                <a:latin typeface="Calibri"/>
                <a:ea typeface="Calibri"/>
                <a:cs typeface="Calibri"/>
                <a:sym typeface="Calibri"/>
              </a:rPr>
              <a:t>Search Matching Algorithm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4663440" y="1280160"/>
            <a:ext cx="4251960" cy="2148840"/>
          </a:xfrm>
          <a:prstGeom prst="rect">
            <a:avLst/>
          </a:prstGeom>
          <a:solidFill>
            <a:srgbClr val="0D2B33"/>
          </a:solidFill>
          <a:ln cap="flat" cmpd="sng" w="12700">
            <a:solidFill>
              <a:srgbClr val="005E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4800600" y="1353312"/>
            <a:ext cx="3977640" cy="20025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// Per PAPI result, build haystack: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text = title + author + callNum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      + kwic + summary  (lower)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50"/>
              <a:buFont typeface="Calibri"/>
              <a:buNone/>
            </a:pPr>
            <a:r>
              <a:t/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// 1. Call# range FIRST (numeric+alpha)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//    Dewey OR A-K/H alpha (DVDs!)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// 2. Collection name substring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// 3. Fuzzy: first 2 words of name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// Sort: matched → available → rest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// J/YA/E/JE/JR/JUV stripped first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754880" y="3520440"/>
            <a:ext cx="42062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697F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00697F"/>
                </a:solidFill>
                <a:latin typeface="Calibri"/>
                <a:ea typeface="Calibri"/>
                <a:cs typeface="Calibri"/>
                <a:sym typeface="Calibri"/>
              </a:rPr>
              <a:t>Sort Order + Zoom Implementation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9"/>
          <p:cNvSpPr/>
          <p:nvPr/>
        </p:nvSpPr>
        <p:spPr>
          <a:xfrm>
            <a:off x="4663440" y="3840480"/>
            <a:ext cx="4251960" cy="1051560"/>
          </a:xfrm>
          <a:prstGeom prst="rect">
            <a:avLst/>
          </a:prstGeom>
          <a:solidFill>
            <a:srgbClr val="0D2B33"/>
          </a:solidFill>
          <a:ln cap="flat" cmpd="sng" w="12700">
            <a:solidFill>
              <a:srgbClr val="005E7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9"/>
          <p:cNvSpPr/>
          <p:nvPr/>
        </p:nvSpPr>
        <p:spPr>
          <a:xfrm>
            <a:off x="4800600" y="3913632"/>
            <a:ext cx="3977640" cy="9052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// Sort: mapped → available → rest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// Zoom 1: CSS max-height calc(100vh-140px)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// Zoom &gt;1: JS px, clears CSS constraints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950"/>
              <a:buFont typeface="Consolas"/>
              <a:buNone/>
            </a:pPr>
            <a:r>
              <a:rPr b="0" i="0" lang="en-US" sz="950" u="none" cap="none" strike="noStrike">
                <a:solidFill>
                  <a:srgbClr val="B2D8E3"/>
                </a:solidFill>
                <a:latin typeface="Consolas"/>
                <a:ea typeface="Consolas"/>
                <a:cs typeface="Consolas"/>
                <a:sym typeface="Consolas"/>
              </a:rPr>
              <a:t>// Auto-zoom 1.15× on item select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9"/>
          <p:cNvSpPr/>
          <p:nvPr/>
        </p:nvSpPr>
        <p:spPr>
          <a:xfrm>
            <a:off x="8046720" y="4800600"/>
            <a:ext cx="9144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RHPL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697F"/>
        </a:solidFill>
      </p:bgPr>
    </p:bg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10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7B2D3A"/>
          </a:solidFill>
          <a:ln cap="flat" cmpd="sng" w="12700">
            <a:solidFill>
              <a:srgbClr val="7B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274320" y="0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 + KIOSK DEPLOYMENT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457200" y="292608"/>
            <a:ext cx="822960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Calibri"/>
              <a:buNone/>
            </a:pPr>
            <a:r>
              <a:rPr b="1" i="0" lang="en-US" sz="3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Desktop · Mobile · Google Kiosk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256032" y="1078992"/>
            <a:ext cx="2834640" cy="3822192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256032" y="1078992"/>
            <a:ext cx="2834640" cy="54864"/>
          </a:xfrm>
          <a:prstGeom prst="rect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1307592" y="1188720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📱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347472" y="1828800"/>
            <a:ext cx="2651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Mobile Optimizations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530352" y="2286000"/>
            <a:ext cx="2286000" cy="27432"/>
          </a:xfrm>
          <a:prstGeom prst="rect">
            <a:avLst/>
          </a:prstGeom>
          <a:solidFill>
            <a:srgbClr val="F4C842">
              <a:alpha val="50196"/>
            </a:srgbClr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420624" y="23774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▸  Results panel: position fixed, bottom 0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420624" y="2779776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▸  max-height 50vh + minimize/expand bar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420624" y="3182112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▸  touchend + onclick (iOS workaround)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10"/>
          <p:cNvSpPr/>
          <p:nvPr/>
        </p:nvSpPr>
        <p:spPr>
          <a:xfrm>
            <a:off x="420624" y="3584448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▸  Info panel left 340px, map right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420624" y="3986784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▸  Mouse drag at all zoom levels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420624" y="438912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▸  Cover: ISBN → UPC → hide gracefully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10"/>
          <p:cNvSpPr/>
          <p:nvPr/>
        </p:nvSpPr>
        <p:spPr>
          <a:xfrm>
            <a:off x="3255264" y="1078992"/>
            <a:ext cx="2834640" cy="3822192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3255264" y="1078992"/>
            <a:ext cx="2834640" cy="54864"/>
          </a:xfrm>
          <a:prstGeom prst="rect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4306824" y="1188720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🖥️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0"/>
          <p:cNvSpPr/>
          <p:nvPr/>
        </p:nvSpPr>
        <p:spPr>
          <a:xfrm>
            <a:off x="3346704" y="1828800"/>
            <a:ext cx="2651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Kiosk Mode (?kiosk=1)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3529584" y="2286000"/>
            <a:ext cx="2286000" cy="27432"/>
          </a:xfrm>
          <a:prstGeom prst="rect">
            <a:avLst/>
          </a:prstGeom>
          <a:solidFill>
            <a:srgbClr val="F4C842">
              <a:alpha val="50196"/>
            </a:srgbClr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3419856" y="23774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▸  Chrome OS Flex on Dell Optiplex / Chromebox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3419856" y="2779776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▸  Google Admin managed kiosk OU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0"/>
          <p:cNvSpPr/>
          <p:nvPr/>
        </p:nvSpPr>
        <p:spPr>
          <a:xfrm>
            <a:off x="3419856" y="3182112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▸  user-select: none on all elements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3419856" y="3584448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▸  No-cache headers (Nginx) — auto-update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3419856" y="3986784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▸  map.rhpl.org?kiosk=1 loads kiosk CSS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10"/>
          <p:cNvSpPr/>
          <p:nvPr/>
        </p:nvSpPr>
        <p:spPr>
          <a:xfrm>
            <a:off x="3419856" y="438912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▸  GIF: same URL as desktop, different styles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6254496" y="1078992"/>
            <a:ext cx="2834640" cy="3822192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21960"/>
              </a:srgbClr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38100">
              <a:srgbClr val="000000">
                <a:alpha val="2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6254496" y="1078992"/>
            <a:ext cx="2834640" cy="54864"/>
          </a:xfrm>
          <a:prstGeom prst="rect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3" name="Google Shape;373;p10"/>
          <p:cNvSpPr/>
          <p:nvPr/>
        </p:nvSpPr>
        <p:spPr>
          <a:xfrm>
            <a:off x="7306056" y="1188720"/>
            <a:ext cx="7315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🔍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6345936" y="1828800"/>
            <a:ext cx="265176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b="1" i="0" lang="en-US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Zoom Implementation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6528816" y="2286000"/>
            <a:ext cx="2286000" cy="27432"/>
          </a:xfrm>
          <a:prstGeom prst="rect">
            <a:avLst/>
          </a:prstGeom>
          <a:solidFill>
            <a:srgbClr val="F4C842">
              <a:alpha val="50196"/>
            </a:srgbClr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6" name="Google Shape;376;p10"/>
          <p:cNvSpPr/>
          <p:nvPr/>
        </p:nvSpPr>
        <p:spPr>
          <a:xfrm>
            <a:off x="6419088" y="237744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▸  Direct img.style.width (NOT transform)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6419088" y="2779776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▸  CSS transforms break mobile touch scroll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6419088" y="3182112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▸  baseWidth = viewport.clientWidth on load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0"/>
          <p:cNvSpPr/>
          <p:nvPr/>
        </p:nvSpPr>
        <p:spPr>
          <a:xfrm>
            <a:off x="6419088" y="3584448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▸  img.width = baseWidth × zoom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6419088" y="3986784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▸  SVG overlay resized to match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10"/>
          <p:cNvSpPr/>
          <p:nvPr/>
        </p:nvSpPr>
        <p:spPr>
          <a:xfrm>
            <a:off x="6419088" y="4389120"/>
            <a:ext cx="260604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▸  Min 1× (fit) · Max 6× · Pinch supported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697F"/>
        </a:solidFill>
      </p:bgPr>
    </p:bg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11"/>
          <p:cNvSpPr/>
          <p:nvPr/>
        </p:nvSpPr>
        <p:spPr>
          <a:xfrm>
            <a:off x="0" y="0"/>
            <a:ext cx="9144000" cy="201168"/>
          </a:xfrm>
          <a:prstGeom prst="rect">
            <a:avLst/>
          </a:prstGeom>
          <a:solidFill>
            <a:srgbClr val="7B2D3A"/>
          </a:solidFill>
          <a:ln cap="flat" cmpd="sng" w="12700">
            <a:solidFill>
              <a:srgbClr val="7B2D3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1"/>
          <p:cNvSpPr/>
          <p:nvPr/>
        </p:nvSpPr>
        <p:spPr>
          <a:xfrm>
            <a:off x="274320" y="0"/>
            <a:ext cx="8595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Calibri"/>
              <a:buNone/>
            </a:pPr>
            <a:r>
              <a:rPr b="1" i="0" lang="en-US" sz="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WHAT'S NEXT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11"/>
          <p:cNvSpPr/>
          <p:nvPr/>
        </p:nvSpPr>
        <p:spPr>
          <a:xfrm>
            <a:off x="457200" y="274320"/>
            <a:ext cx="82296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Built in few days solo.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could we do together?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365760" y="1508760"/>
            <a:ext cx="4114800" cy="841248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1"/>
          <p:cNvSpPr/>
          <p:nvPr/>
        </p:nvSpPr>
        <p:spPr>
          <a:xfrm>
            <a:off x="365760" y="1508760"/>
            <a:ext cx="54864" cy="841248"/>
          </a:xfrm>
          <a:prstGeom prst="rect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475488" y="1691640"/>
            <a:ext cx="475488" cy="475488"/>
          </a:xfrm>
          <a:prstGeom prst="ellipse">
            <a:avLst/>
          </a:prstGeom>
          <a:solidFill>
            <a:srgbClr val="004D5C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1"/>
          <p:cNvSpPr/>
          <p:nvPr/>
        </p:nvSpPr>
        <p:spPr>
          <a:xfrm>
            <a:off x="475488" y="169164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4C842"/>
                </a:solidFill>
                <a:latin typeface="Consolas"/>
                <a:ea typeface="Consolas"/>
                <a:cs typeface="Consolas"/>
                <a:sym typeface="Consolas"/>
              </a:rPr>
              <a:t>01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1051560" y="1600200"/>
            <a:ext cx="33192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Map all 98 collections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11"/>
          <p:cNvSpPr/>
          <p:nvPr/>
        </p:nvSpPr>
        <p:spPr>
          <a:xfrm>
            <a:off x="1051560" y="1911096"/>
            <a:ext cx="33192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Currently ~20 mapped — full main library floor mapping in progress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4709160" y="1508760"/>
            <a:ext cx="4114800" cy="841248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1"/>
          <p:cNvSpPr/>
          <p:nvPr/>
        </p:nvSpPr>
        <p:spPr>
          <a:xfrm>
            <a:off x="4709160" y="1508760"/>
            <a:ext cx="54864" cy="841248"/>
          </a:xfrm>
          <a:prstGeom prst="rect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4818888" y="1691640"/>
            <a:ext cx="475488" cy="475488"/>
          </a:xfrm>
          <a:prstGeom prst="ellipse">
            <a:avLst/>
          </a:prstGeom>
          <a:solidFill>
            <a:srgbClr val="004D5C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9" name="Google Shape;399;p11"/>
          <p:cNvSpPr/>
          <p:nvPr/>
        </p:nvSpPr>
        <p:spPr>
          <a:xfrm>
            <a:off x="4818888" y="1691640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4C842"/>
                </a:solidFill>
                <a:latin typeface="Consolas"/>
                <a:ea typeface="Consolas"/>
                <a:cs typeface="Consolas"/>
                <a:sym typeface="Consolas"/>
              </a:rPr>
              <a:t>02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5394960" y="1600200"/>
            <a:ext cx="33192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Expand to main Vega catalog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11"/>
          <p:cNvSpPr/>
          <p:nvPr/>
        </p:nvSpPr>
        <p:spPr>
          <a:xfrm>
            <a:off x="5394960" y="1911096"/>
            <a:ext cx="33192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rhpl.na3.iiivega.com — extend findit-rhpl.js beyond IIC branch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365760" y="2487168"/>
            <a:ext cx="4114800" cy="841248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3" name="Google Shape;403;p11"/>
          <p:cNvSpPr/>
          <p:nvPr/>
        </p:nvSpPr>
        <p:spPr>
          <a:xfrm>
            <a:off x="365760" y="2487168"/>
            <a:ext cx="54864" cy="841248"/>
          </a:xfrm>
          <a:prstGeom prst="rect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11"/>
          <p:cNvSpPr/>
          <p:nvPr/>
        </p:nvSpPr>
        <p:spPr>
          <a:xfrm>
            <a:off x="475488" y="2670048"/>
            <a:ext cx="475488" cy="475488"/>
          </a:xfrm>
          <a:prstGeom prst="ellipse">
            <a:avLst/>
          </a:prstGeom>
          <a:solidFill>
            <a:srgbClr val="004D5C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475488" y="267004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4C842"/>
                </a:solidFill>
                <a:latin typeface="Consolas"/>
                <a:ea typeface="Consolas"/>
                <a:cs typeface="Consolas"/>
                <a:sym typeface="Consolas"/>
              </a:rPr>
              <a:t>03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1051560" y="2578608"/>
            <a:ext cx="33192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More landmark types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1051560" y="2889504"/>
            <a:ext cx="33192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Study rooms, computer stations, printers, staff service desks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4709160" y="2487168"/>
            <a:ext cx="4114800" cy="841248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4709160" y="2487168"/>
            <a:ext cx="54864" cy="841248"/>
          </a:xfrm>
          <a:prstGeom prst="rect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4818888" y="2670048"/>
            <a:ext cx="475488" cy="475488"/>
          </a:xfrm>
          <a:prstGeom prst="ellipse">
            <a:avLst/>
          </a:prstGeom>
          <a:solidFill>
            <a:srgbClr val="004D5C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p11"/>
          <p:cNvSpPr/>
          <p:nvPr/>
        </p:nvSpPr>
        <p:spPr>
          <a:xfrm>
            <a:off x="4818888" y="2670048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4C842"/>
                </a:solidFill>
                <a:latin typeface="Consolas"/>
                <a:ea typeface="Consolas"/>
                <a:cs typeface="Consolas"/>
                <a:sym typeface="Consolas"/>
              </a:rPr>
              <a:t>04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11"/>
          <p:cNvSpPr/>
          <p:nvPr/>
        </p:nvSpPr>
        <p:spPr>
          <a:xfrm>
            <a:off x="5394960" y="2578608"/>
            <a:ext cx="33192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QR code integration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5394960" y="2889504"/>
            <a:ext cx="33192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Direct deep-link from physical shelf signage into map app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365760" y="3465576"/>
            <a:ext cx="4114800" cy="841248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365760" y="3465576"/>
            <a:ext cx="54864" cy="841248"/>
          </a:xfrm>
          <a:prstGeom prst="rect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475488" y="3648456"/>
            <a:ext cx="475488" cy="475488"/>
          </a:xfrm>
          <a:prstGeom prst="ellipse">
            <a:avLst/>
          </a:prstGeom>
          <a:solidFill>
            <a:srgbClr val="004D5C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475488" y="3648456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4C842"/>
                </a:solidFill>
                <a:latin typeface="Consolas"/>
                <a:ea typeface="Consolas"/>
                <a:cs typeface="Consolas"/>
                <a:sym typeface="Consolas"/>
              </a:rPr>
              <a:t>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1051560" y="3557016"/>
            <a:ext cx="33192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Open source the repo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11"/>
          <p:cNvSpPr/>
          <p:nvPr/>
        </p:nvSpPr>
        <p:spPr>
          <a:xfrm>
            <a:off x="1051560" y="3867912"/>
            <a:ext cx="33192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github.com/RHPubLib/FindIt — Open source, ready for other Innovative libraries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11"/>
          <p:cNvSpPr/>
          <p:nvPr/>
        </p:nvSpPr>
        <p:spPr>
          <a:xfrm>
            <a:off x="4709160" y="3465576"/>
            <a:ext cx="4114800" cy="841248"/>
          </a:xfrm>
          <a:prstGeom prst="rect">
            <a:avLst/>
          </a:prstGeom>
          <a:solidFill>
            <a:srgbClr val="005E73"/>
          </a:solidFill>
          <a:ln cap="flat" cmpd="sng" w="12700">
            <a:solidFill>
              <a:srgbClr val="FFFFFF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4709160" y="3465576"/>
            <a:ext cx="54864" cy="841248"/>
          </a:xfrm>
          <a:prstGeom prst="rect">
            <a:avLst/>
          </a:prstGeom>
          <a:solidFill>
            <a:srgbClr val="F4C842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4818888" y="3648456"/>
            <a:ext cx="475488" cy="475488"/>
          </a:xfrm>
          <a:prstGeom prst="ellipse">
            <a:avLst/>
          </a:prstGeom>
          <a:solidFill>
            <a:srgbClr val="7B2D3A"/>
          </a:solidFill>
          <a:ln cap="flat" cmpd="sng" w="1270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4818888" y="3648456"/>
            <a:ext cx="475488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4C842"/>
                </a:solidFill>
                <a:latin typeface="Consolas"/>
                <a:ea typeface="Consolas"/>
                <a:cs typeface="Consolas"/>
                <a:sym typeface="Consolas"/>
              </a:rPr>
              <a:t>AI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5394960" y="3557016"/>
            <a:ext cx="3319272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Built with Claude Code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5394960" y="3867912"/>
            <a:ext cx="3319272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B2D8E3"/>
              </a:buClr>
              <a:buSzPts val="1050"/>
              <a:buFont typeface="Calibri"/>
              <a:buNone/>
            </a:pPr>
            <a:r>
              <a:rPr b="0" i="0" lang="en-US" sz="1050" u="none" cap="none" strike="noStrike">
                <a:solidFill>
                  <a:srgbClr val="B2D8E3"/>
                </a:solidFill>
                <a:latin typeface="Calibri"/>
                <a:ea typeface="Calibri"/>
                <a:cs typeface="Calibri"/>
                <a:sym typeface="Calibri"/>
              </a:rPr>
              <a:t>AI pair-programming made 2-day build possible for 1 person — no IT experience needed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2286000" y="4526280"/>
            <a:ext cx="4572000" cy="402336"/>
          </a:xfrm>
          <a:prstGeom prst="roundRect">
            <a:avLst>
              <a:gd fmla="val 15909" name="adj"/>
            </a:avLst>
          </a:prstGeom>
          <a:solidFill>
            <a:srgbClr val="004D5C"/>
          </a:solidFill>
          <a:ln cap="flat" cmpd="sng" w="19050">
            <a:solidFill>
              <a:srgbClr val="F4C84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1"/>
          <p:cNvSpPr/>
          <p:nvPr/>
        </p:nvSpPr>
        <p:spPr>
          <a:xfrm>
            <a:off x="2286000" y="4526280"/>
            <a:ext cx="4572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4C842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4C842"/>
                </a:solidFill>
                <a:latin typeface="Calibri"/>
                <a:ea typeface="Calibri"/>
                <a:cs typeface="Calibri"/>
                <a:sym typeface="Calibri"/>
              </a:rPr>
              <a:t>github.com/RHPubLib/FindIt  ·  Open Source  ·  map.rhpl.org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8" name="Google Shape;428;p11" title="FindIt_QR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07275" y="4335950"/>
            <a:ext cx="783000" cy="78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